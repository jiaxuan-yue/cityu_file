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883" r:id="rId3"/>
    <p:sldId id="884" r:id="rId5"/>
    <p:sldId id="891" r:id="rId6"/>
    <p:sldId id="887" r:id="rId7"/>
    <p:sldId id="918" r:id="rId8"/>
    <p:sldId id="920" r:id="rId9"/>
    <p:sldId id="919" r:id="rId10"/>
    <p:sldId id="88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3437"/>
    <a:srgbClr val="00A048"/>
    <a:srgbClr val="0075C1"/>
    <a:srgbClr val="007D3C"/>
    <a:srgbClr val="B61E23"/>
    <a:srgbClr val="007046"/>
    <a:srgbClr val="E60012"/>
    <a:srgbClr val="0079C3"/>
    <a:srgbClr val="0099CA"/>
    <a:srgbClr val="9F24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5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828" y="102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125" d="100"/>
        <a:sy n="125" d="100"/>
      </p:scale>
      <p:origin x="0" y="-15210"/>
    </p:cViewPr>
  </p:sorterViewPr>
  <p:notesViewPr>
    <p:cSldViewPr snapToGrid="0">
      <p:cViewPr varScale="1">
        <p:scale>
          <a:sx n="81" d="100"/>
          <a:sy n="81" d="100"/>
        </p:scale>
        <p:origin x="29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1CF01E-7679-46AD-BD36-A23A11BF84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35F92-EA63-496E-83CB-B20A02D636E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F23912-F76B-44AA-AEEC-D62510CEF69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7025F4-21EF-435D-81ED-3E98BA65D94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7025F4-21EF-435D-81ED-3E98BA65D94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/>
          <p:cNvSpPr/>
          <p:nvPr userDrawn="1"/>
        </p:nvSpPr>
        <p:spPr>
          <a:xfrm flipH="1" flipV="1">
            <a:off x="0" y="10"/>
            <a:ext cx="10005780" cy="6857990"/>
          </a:xfrm>
          <a:custGeom>
            <a:avLst/>
            <a:gdLst>
              <a:gd name="connsiteX0" fmla="*/ 3308768 w 9138068"/>
              <a:gd name="connsiteY0" fmla="*/ 0 h 6858000"/>
              <a:gd name="connsiteX1" fmla="*/ 9138068 w 9138068"/>
              <a:gd name="connsiteY1" fmla="*/ 0 h 6858000"/>
              <a:gd name="connsiteX2" fmla="*/ 9138068 w 9138068"/>
              <a:gd name="connsiteY2" fmla="*/ 6858000 h 6858000"/>
              <a:gd name="connsiteX3" fmla="*/ 3308768 w 9138068"/>
              <a:gd name="connsiteY3" fmla="*/ 6858000 h 6858000"/>
              <a:gd name="connsiteX4" fmla="*/ 3308768 w 9138068"/>
              <a:gd name="connsiteY4" fmla="*/ 6857995 h 6858000"/>
              <a:gd name="connsiteX5" fmla="*/ 982260 w 9138068"/>
              <a:gd name="connsiteY5" fmla="*/ 6857995 h 6858000"/>
              <a:gd name="connsiteX6" fmla="*/ 802411 w 9138068"/>
              <a:gd name="connsiteY6" fmla="*/ 6605239 h 6858000"/>
              <a:gd name="connsiteX7" fmla="*/ 0 w 9138068"/>
              <a:gd name="connsiteY7" fmla="*/ 4080042 h 6858000"/>
              <a:gd name="connsiteX8" fmla="*/ 321462 w 9138068"/>
              <a:gd name="connsiteY8" fmla="*/ 2458735 h 6858000"/>
              <a:gd name="connsiteX9" fmla="*/ 400722 w 9138068"/>
              <a:gd name="connsiteY9" fmla="*/ 2281393 h 6858000"/>
              <a:gd name="connsiteX10" fmla="*/ 400722 w 9138068"/>
              <a:gd name="connsiteY10" fmla="*/ 2281393 h 6858000"/>
              <a:gd name="connsiteX11" fmla="*/ 459054 w 9138068"/>
              <a:gd name="connsiteY11" fmla="*/ 2150882 h 6858000"/>
              <a:gd name="connsiteX12" fmla="*/ 2028512 w 9138068"/>
              <a:gd name="connsiteY12" fmla="*/ 198516 h 6858000"/>
              <a:gd name="connsiteX13" fmla="*/ 2274048 w 9138068"/>
              <a:gd name="connsiteY13" fmla="*/ 1 h 6858000"/>
              <a:gd name="connsiteX14" fmla="*/ 3308768 w 9138068"/>
              <a:gd name="connsiteY14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38068" h="6858000">
                <a:moveTo>
                  <a:pt x="3308768" y="0"/>
                </a:moveTo>
                <a:lnTo>
                  <a:pt x="9138068" y="0"/>
                </a:lnTo>
                <a:lnTo>
                  <a:pt x="9138068" y="6858000"/>
                </a:lnTo>
                <a:lnTo>
                  <a:pt x="3308768" y="6858000"/>
                </a:lnTo>
                <a:lnTo>
                  <a:pt x="3308768" y="6857995"/>
                </a:lnTo>
                <a:lnTo>
                  <a:pt x="982260" y="6857995"/>
                </a:lnTo>
                <a:lnTo>
                  <a:pt x="802411" y="6605239"/>
                </a:lnTo>
                <a:cubicBezTo>
                  <a:pt x="285719" y="5829095"/>
                  <a:pt x="0" y="4975768"/>
                  <a:pt x="0" y="4080042"/>
                </a:cubicBezTo>
                <a:cubicBezTo>
                  <a:pt x="0" y="3520214"/>
                  <a:pt x="111609" y="2976948"/>
                  <a:pt x="321462" y="2458735"/>
                </a:cubicBezTo>
                <a:lnTo>
                  <a:pt x="400722" y="2281393"/>
                </a:lnTo>
                <a:lnTo>
                  <a:pt x="400722" y="2281393"/>
                </a:lnTo>
                <a:lnTo>
                  <a:pt x="459054" y="2150882"/>
                </a:lnTo>
                <a:cubicBezTo>
                  <a:pt x="807114" y="1439891"/>
                  <a:pt x="1342493" y="781335"/>
                  <a:pt x="2028512" y="198516"/>
                </a:cubicBezTo>
                <a:lnTo>
                  <a:pt x="2274048" y="1"/>
                </a:lnTo>
                <a:lnTo>
                  <a:pt x="3308768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0638" y="1589332"/>
            <a:ext cx="149801" cy="739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3" name="矩形: 圆角 532"/>
          <p:cNvSpPr/>
          <p:nvPr userDrawn="1"/>
        </p:nvSpPr>
        <p:spPr>
          <a:xfrm>
            <a:off x="653365" y="709931"/>
            <a:ext cx="10885270" cy="543813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79400" dist="50800" dir="42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34" name="文本框 533"/>
          <p:cNvSpPr txBox="1"/>
          <p:nvPr userDrawn="1"/>
        </p:nvSpPr>
        <p:spPr>
          <a:xfrm>
            <a:off x="1314673" y="1449730"/>
            <a:ext cx="3376245" cy="584775"/>
          </a:xfrm>
          <a:prstGeom prst="rect">
            <a:avLst/>
          </a:prstGeom>
          <a:noFill/>
        </p:spPr>
        <p:txBody>
          <a:bodyPr vert="horz" wrap="none" lIns="0" rtlCol="0">
            <a:spAutoFit/>
          </a:bodyPr>
          <a:lstStyle/>
          <a:p>
            <a:r>
              <a:rPr lang="zh-CN" altLang="en-US" sz="32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目录</a:t>
            </a:r>
            <a:r>
              <a:rPr lang="zh-CN" altLang="en-US" sz="32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GB" sz="3200" b="1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CONTENTS</a:t>
            </a:r>
            <a:endParaRPr lang="en-GB" sz="3200" b="1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39" name="文本框 538"/>
          <p:cNvSpPr txBox="1"/>
          <p:nvPr userDrawn="1"/>
        </p:nvSpPr>
        <p:spPr>
          <a:xfrm>
            <a:off x="11485224" y="6505615"/>
            <a:ext cx="1270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0" name="页码"/>
          <p:cNvSpPr txBox="1"/>
          <p:nvPr userDrawn="1"/>
        </p:nvSpPr>
        <p:spPr>
          <a:xfrm>
            <a:off x="11587191" y="6505615"/>
            <a:ext cx="187552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200" b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lang="ja-JP" altLang="en-US" sz="1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 descr="C:/Users/11700-1/Downloads/香港城市大学（东莞）-logo-2048px.png香港城市大学（东莞）-logo-2048px"/>
          <p:cNvPicPr>
            <a:picLocks noChangeAspect="1"/>
          </p:cNvPicPr>
          <p:nvPr userDrawn="1"/>
        </p:nvPicPr>
        <p:blipFill>
          <a:blip r:embed="rId2"/>
          <a:srcRect l="786" r="-3429" b="-8881"/>
          <a:stretch>
            <a:fillRect/>
          </a:stretch>
        </p:blipFill>
        <p:spPr>
          <a:xfrm>
            <a:off x="10111740" y="1199515"/>
            <a:ext cx="984885" cy="6267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3228" r="21408"/>
          <a:stretch>
            <a:fillRect/>
          </a:stretch>
        </p:blipFill>
        <p:spPr>
          <a:xfrm flipV="1">
            <a:off x="11301" y="0"/>
            <a:ext cx="8005344" cy="6858000"/>
          </a:xfrm>
          <a:prstGeom prst="rect">
            <a:avLst/>
          </a:prstGeom>
        </p:spPr>
      </p:pic>
      <p:sp>
        <p:nvSpPr>
          <p:cNvPr id="4" name="任意多边形: 形状 3"/>
          <p:cNvSpPr/>
          <p:nvPr userDrawn="1"/>
        </p:nvSpPr>
        <p:spPr>
          <a:xfrm flipV="1">
            <a:off x="4093869" y="10"/>
            <a:ext cx="8098131" cy="6857990"/>
          </a:xfrm>
          <a:custGeom>
            <a:avLst/>
            <a:gdLst>
              <a:gd name="connsiteX0" fmla="*/ 3308768 w 9138068"/>
              <a:gd name="connsiteY0" fmla="*/ 0 h 6858000"/>
              <a:gd name="connsiteX1" fmla="*/ 9138068 w 9138068"/>
              <a:gd name="connsiteY1" fmla="*/ 0 h 6858000"/>
              <a:gd name="connsiteX2" fmla="*/ 9138068 w 9138068"/>
              <a:gd name="connsiteY2" fmla="*/ 6858000 h 6858000"/>
              <a:gd name="connsiteX3" fmla="*/ 3308768 w 9138068"/>
              <a:gd name="connsiteY3" fmla="*/ 6858000 h 6858000"/>
              <a:gd name="connsiteX4" fmla="*/ 3308768 w 9138068"/>
              <a:gd name="connsiteY4" fmla="*/ 6857995 h 6858000"/>
              <a:gd name="connsiteX5" fmla="*/ 982260 w 9138068"/>
              <a:gd name="connsiteY5" fmla="*/ 6857995 h 6858000"/>
              <a:gd name="connsiteX6" fmla="*/ 802411 w 9138068"/>
              <a:gd name="connsiteY6" fmla="*/ 6605239 h 6858000"/>
              <a:gd name="connsiteX7" fmla="*/ 0 w 9138068"/>
              <a:gd name="connsiteY7" fmla="*/ 4080042 h 6858000"/>
              <a:gd name="connsiteX8" fmla="*/ 321462 w 9138068"/>
              <a:gd name="connsiteY8" fmla="*/ 2458735 h 6858000"/>
              <a:gd name="connsiteX9" fmla="*/ 400722 w 9138068"/>
              <a:gd name="connsiteY9" fmla="*/ 2281393 h 6858000"/>
              <a:gd name="connsiteX10" fmla="*/ 400722 w 9138068"/>
              <a:gd name="connsiteY10" fmla="*/ 2281393 h 6858000"/>
              <a:gd name="connsiteX11" fmla="*/ 459054 w 9138068"/>
              <a:gd name="connsiteY11" fmla="*/ 2150882 h 6858000"/>
              <a:gd name="connsiteX12" fmla="*/ 2028512 w 9138068"/>
              <a:gd name="connsiteY12" fmla="*/ 198516 h 6858000"/>
              <a:gd name="connsiteX13" fmla="*/ 2274048 w 9138068"/>
              <a:gd name="connsiteY13" fmla="*/ 1 h 6858000"/>
              <a:gd name="connsiteX14" fmla="*/ 3308768 w 9138068"/>
              <a:gd name="connsiteY14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38068" h="6858000">
                <a:moveTo>
                  <a:pt x="3308768" y="0"/>
                </a:moveTo>
                <a:lnTo>
                  <a:pt x="9138068" y="0"/>
                </a:lnTo>
                <a:lnTo>
                  <a:pt x="9138068" y="6858000"/>
                </a:lnTo>
                <a:lnTo>
                  <a:pt x="3308768" y="6858000"/>
                </a:lnTo>
                <a:lnTo>
                  <a:pt x="3308768" y="6857995"/>
                </a:lnTo>
                <a:lnTo>
                  <a:pt x="982260" y="6857995"/>
                </a:lnTo>
                <a:lnTo>
                  <a:pt x="802411" y="6605239"/>
                </a:lnTo>
                <a:cubicBezTo>
                  <a:pt x="285719" y="5829095"/>
                  <a:pt x="0" y="4975768"/>
                  <a:pt x="0" y="4080042"/>
                </a:cubicBezTo>
                <a:cubicBezTo>
                  <a:pt x="0" y="3520214"/>
                  <a:pt x="111609" y="2976948"/>
                  <a:pt x="321462" y="2458735"/>
                </a:cubicBezTo>
                <a:lnTo>
                  <a:pt x="400722" y="2281393"/>
                </a:lnTo>
                <a:lnTo>
                  <a:pt x="400722" y="2281393"/>
                </a:lnTo>
                <a:lnTo>
                  <a:pt x="459054" y="2150882"/>
                </a:lnTo>
                <a:cubicBezTo>
                  <a:pt x="807114" y="1439891"/>
                  <a:pt x="1342493" y="781335"/>
                  <a:pt x="2028512" y="198516"/>
                </a:cubicBezTo>
                <a:lnTo>
                  <a:pt x="2274048" y="1"/>
                </a:lnTo>
                <a:lnTo>
                  <a:pt x="330876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 userDrawn="1"/>
        </p:nvSpPr>
        <p:spPr>
          <a:xfrm>
            <a:off x="1786216" y="1524000"/>
            <a:ext cx="240337" cy="38100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: 圆角 6"/>
          <p:cNvSpPr/>
          <p:nvPr userDrawn="1"/>
        </p:nvSpPr>
        <p:spPr>
          <a:xfrm>
            <a:off x="1901371" y="1524000"/>
            <a:ext cx="8389258" cy="381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79400" dist="50800" dir="42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文本框 8"/>
          <p:cNvSpPr txBox="1"/>
          <p:nvPr userDrawn="1"/>
        </p:nvSpPr>
        <p:spPr>
          <a:xfrm>
            <a:off x="11485224" y="6505615"/>
            <a:ext cx="127000" cy="3689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页码"/>
          <p:cNvSpPr txBox="1"/>
          <p:nvPr userDrawn="1"/>
        </p:nvSpPr>
        <p:spPr>
          <a:xfrm>
            <a:off x="11587191" y="6505615"/>
            <a:ext cx="187552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200" b="1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lang="ja-JP" altLang="en-US" sz="12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15"/>
          <p:cNvSpPr>
            <a:spLocks noGrp="1"/>
          </p:cNvSpPr>
          <p:nvPr>
            <p:ph type="title"/>
          </p:nvPr>
        </p:nvSpPr>
        <p:spPr>
          <a:xfrm>
            <a:off x="378491" y="250254"/>
            <a:ext cx="11435018" cy="480131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pPr marL="0" lvl="0" defTabSz="457200"/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4"/>
          <p:cNvSpPr>
            <a:spLocks noGrp="1"/>
          </p:cNvSpPr>
          <p:nvPr>
            <p:ph type="pic" sz="quarter" idx="13"/>
          </p:nvPr>
        </p:nvSpPr>
        <p:spPr>
          <a:xfrm>
            <a:off x="378491" y="1312240"/>
            <a:ext cx="6470571" cy="4652618"/>
          </a:xfrm>
          <a:prstGeom prst="rect">
            <a:avLst/>
          </a:prstGeom>
          <a:blipFill dpi="0" rotWithShape="1">
            <a:blip r:embed="rId2"/>
            <a:srcRect/>
            <a:tile tx="0" ty="0" sx="80000" sy="8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6"/>
          <p:cNvSpPr>
            <a:spLocks noGrp="1"/>
          </p:cNvSpPr>
          <p:nvPr>
            <p:ph type="pic" sz="quarter" idx="11"/>
          </p:nvPr>
        </p:nvSpPr>
        <p:spPr>
          <a:xfrm>
            <a:off x="1000436" y="3202850"/>
            <a:ext cx="856800" cy="856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4" name="图片占位符 6"/>
          <p:cNvSpPr>
            <a:spLocks noGrp="1"/>
          </p:cNvSpPr>
          <p:nvPr>
            <p:ph type="pic" sz="quarter" idx="10"/>
          </p:nvPr>
        </p:nvSpPr>
        <p:spPr>
          <a:xfrm>
            <a:off x="4812919" y="1144467"/>
            <a:ext cx="1252800" cy="1252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6" name="图片占位符 6"/>
          <p:cNvSpPr>
            <a:spLocks noGrp="1"/>
          </p:cNvSpPr>
          <p:nvPr>
            <p:ph type="pic" sz="quarter" idx="12"/>
          </p:nvPr>
        </p:nvSpPr>
        <p:spPr>
          <a:xfrm>
            <a:off x="3703480" y="3202850"/>
            <a:ext cx="856800" cy="856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8" name="图片占位符 6"/>
          <p:cNvSpPr>
            <a:spLocks noGrp="1"/>
          </p:cNvSpPr>
          <p:nvPr>
            <p:ph type="pic" sz="quarter" idx="13"/>
          </p:nvPr>
        </p:nvSpPr>
        <p:spPr>
          <a:xfrm>
            <a:off x="6404539" y="3202850"/>
            <a:ext cx="856800" cy="856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9" name="图片占位符 6"/>
          <p:cNvSpPr>
            <a:spLocks noGrp="1"/>
          </p:cNvSpPr>
          <p:nvPr>
            <p:ph type="pic" sz="quarter" idx="14"/>
          </p:nvPr>
        </p:nvSpPr>
        <p:spPr>
          <a:xfrm>
            <a:off x="9068484" y="3202850"/>
            <a:ext cx="856800" cy="8568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0" name="图片占位符 6"/>
          <p:cNvSpPr>
            <a:spLocks noGrp="1"/>
          </p:cNvSpPr>
          <p:nvPr>
            <p:ph type="pic" sz="quarter" idx="15"/>
          </p:nvPr>
        </p:nvSpPr>
        <p:spPr>
          <a:xfrm>
            <a:off x="1721147" y="4391486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1" name="图片占位符 6"/>
          <p:cNvSpPr>
            <a:spLocks noGrp="1"/>
          </p:cNvSpPr>
          <p:nvPr>
            <p:ph type="pic" sz="quarter" idx="16"/>
          </p:nvPr>
        </p:nvSpPr>
        <p:spPr>
          <a:xfrm>
            <a:off x="4417716" y="4391486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2" name="图片占位符 6"/>
          <p:cNvSpPr>
            <a:spLocks noGrp="1"/>
          </p:cNvSpPr>
          <p:nvPr>
            <p:ph type="pic" sz="quarter" idx="17"/>
          </p:nvPr>
        </p:nvSpPr>
        <p:spPr>
          <a:xfrm>
            <a:off x="7097937" y="4391486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3" name="图片占位符 6"/>
          <p:cNvSpPr>
            <a:spLocks noGrp="1"/>
          </p:cNvSpPr>
          <p:nvPr>
            <p:ph type="pic" sz="quarter" idx="18"/>
          </p:nvPr>
        </p:nvSpPr>
        <p:spPr>
          <a:xfrm>
            <a:off x="1721147" y="5127194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4" name="图片占位符 6"/>
          <p:cNvSpPr>
            <a:spLocks noGrp="1"/>
          </p:cNvSpPr>
          <p:nvPr>
            <p:ph type="pic" sz="quarter" idx="19"/>
          </p:nvPr>
        </p:nvSpPr>
        <p:spPr>
          <a:xfrm>
            <a:off x="4417716" y="5127194"/>
            <a:ext cx="586800" cy="586800"/>
          </a:xfrm>
          <a:prstGeom prst="flowChartConnector">
            <a:avLst/>
          </a:prstGeom>
          <a:blipFill dpi="0" rotWithShape="1">
            <a:blip r:embed="rId2"/>
            <a:srcRect/>
            <a:tile tx="0" ty="0" sx="40000" sy="4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图片占位符 6"/>
          <p:cNvSpPr>
            <a:spLocks noGrp="1"/>
          </p:cNvSpPr>
          <p:nvPr>
            <p:ph type="pic" sz="quarter" idx="10"/>
          </p:nvPr>
        </p:nvSpPr>
        <p:spPr>
          <a:xfrm>
            <a:off x="1065301" y="1666881"/>
            <a:ext cx="2052000" cy="20520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3776871" y="1666881"/>
            <a:ext cx="2052000" cy="20520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2"/>
          </p:nvPr>
        </p:nvSpPr>
        <p:spPr>
          <a:xfrm>
            <a:off x="6489774" y="1666881"/>
            <a:ext cx="2052000" cy="20520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3"/>
          </p:nvPr>
        </p:nvSpPr>
        <p:spPr>
          <a:xfrm>
            <a:off x="9201788" y="1666881"/>
            <a:ext cx="2052000" cy="20520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4"/>
          <p:cNvSpPr>
            <a:spLocks noGrp="1"/>
          </p:cNvSpPr>
          <p:nvPr>
            <p:ph type="pic" sz="quarter" idx="14"/>
          </p:nvPr>
        </p:nvSpPr>
        <p:spPr>
          <a:xfrm>
            <a:off x="923019" y="1714500"/>
            <a:ext cx="4787900" cy="2222500"/>
          </a:xfrm>
          <a:prstGeom prst="rect">
            <a:avLst/>
          </a:prstGeom>
          <a:blipFill dpi="0" rotWithShape="1">
            <a:blip r:embed="rId2"/>
            <a:srcRect/>
            <a:tile tx="-101600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5"/>
          </p:nvPr>
        </p:nvSpPr>
        <p:spPr>
          <a:xfrm>
            <a:off x="6418263" y="1714500"/>
            <a:ext cx="4824412" cy="2222500"/>
          </a:xfrm>
          <a:prstGeom prst="rect">
            <a:avLst/>
          </a:prstGeom>
          <a:blipFill dpi="0" rotWithShape="1">
            <a:blip r:embed="rId2"/>
            <a:srcRect/>
            <a:tile tx="-101600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826064" y="1655536"/>
            <a:ext cx="2149200" cy="21492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8" name="图片占位符 6"/>
          <p:cNvSpPr>
            <a:spLocks noGrp="1"/>
          </p:cNvSpPr>
          <p:nvPr>
            <p:ph type="pic" sz="quarter" idx="11"/>
          </p:nvPr>
        </p:nvSpPr>
        <p:spPr>
          <a:xfrm>
            <a:off x="5020856" y="1655536"/>
            <a:ext cx="2149200" cy="21492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9" name="图片占位符 6"/>
          <p:cNvSpPr>
            <a:spLocks noGrp="1"/>
          </p:cNvSpPr>
          <p:nvPr>
            <p:ph type="pic" sz="quarter" idx="12"/>
          </p:nvPr>
        </p:nvSpPr>
        <p:spPr>
          <a:xfrm>
            <a:off x="9215648" y="1655536"/>
            <a:ext cx="2149200" cy="2149200"/>
          </a:xfrm>
          <a:prstGeom prst="flowChartConnector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157288" y="1489075"/>
            <a:ext cx="4637087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/>
          </a:p>
        </p:txBody>
      </p:sp>
      <p:sp>
        <p:nvSpPr>
          <p:cNvPr id="6" name="图片占位符 4"/>
          <p:cNvSpPr>
            <a:spLocks noGrp="1"/>
          </p:cNvSpPr>
          <p:nvPr>
            <p:ph type="pic" sz="quarter" idx="11"/>
          </p:nvPr>
        </p:nvSpPr>
        <p:spPr>
          <a:xfrm>
            <a:off x="6396946" y="1489075"/>
            <a:ext cx="4637087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图片版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479426" y="1489075"/>
            <a:ext cx="3356534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0" name="图片占位符 4"/>
          <p:cNvSpPr>
            <a:spLocks noGrp="1"/>
          </p:cNvSpPr>
          <p:nvPr>
            <p:ph type="pic" sz="quarter" idx="11"/>
          </p:nvPr>
        </p:nvSpPr>
        <p:spPr>
          <a:xfrm>
            <a:off x="4417733" y="1489075"/>
            <a:ext cx="3356534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1" name="图片占位符 4"/>
          <p:cNvSpPr>
            <a:spLocks noGrp="1"/>
          </p:cNvSpPr>
          <p:nvPr>
            <p:ph type="pic" sz="quarter" idx="12"/>
          </p:nvPr>
        </p:nvSpPr>
        <p:spPr>
          <a:xfrm>
            <a:off x="8356035" y="1489075"/>
            <a:ext cx="3356534" cy="1758950"/>
          </a:xfrm>
          <a:prstGeom prst="rect">
            <a:avLst/>
          </a:prstGeom>
          <a:blipFill dpi="0" rotWithShape="1">
            <a:blip r:embed="rId2"/>
            <a:srcRect/>
            <a:tile tx="0" ty="0" sx="70000" sy="70000" flip="none" algn="ctr"/>
          </a:blipFill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>
                <a:noFill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: 形状 23"/>
          <p:cNvSpPr/>
          <p:nvPr userDrawn="1"/>
        </p:nvSpPr>
        <p:spPr>
          <a:xfrm>
            <a:off x="0" y="0"/>
            <a:ext cx="12192000" cy="1075496"/>
          </a:xfrm>
          <a:custGeom>
            <a:avLst/>
            <a:gdLst>
              <a:gd name="connsiteX0" fmla="*/ 0 w 12192000"/>
              <a:gd name="connsiteY0" fmla="*/ 0 h 1075496"/>
              <a:gd name="connsiteX1" fmla="*/ 12192000 w 12192000"/>
              <a:gd name="connsiteY1" fmla="*/ 0 h 1075496"/>
              <a:gd name="connsiteX2" fmla="*/ 12192000 w 12192000"/>
              <a:gd name="connsiteY2" fmla="*/ 1075496 h 1075496"/>
              <a:gd name="connsiteX3" fmla="*/ 11950512 w 12192000"/>
              <a:gd name="connsiteY3" fmla="*/ 1052511 h 1075496"/>
              <a:gd name="connsiteX4" fmla="*/ 6095998 w 12192000"/>
              <a:gd name="connsiteY4" fmla="*/ 793750 h 1075496"/>
              <a:gd name="connsiteX5" fmla="*/ 241485 w 12192000"/>
              <a:gd name="connsiteY5" fmla="*/ 1052511 h 1075496"/>
              <a:gd name="connsiteX6" fmla="*/ 0 w 12192000"/>
              <a:gd name="connsiteY6" fmla="*/ 1075495 h 1075496"/>
              <a:gd name="connsiteX7" fmla="*/ 0 w 12192000"/>
              <a:gd name="connsiteY7" fmla="*/ 0 h 1075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075496">
                <a:moveTo>
                  <a:pt x="0" y="0"/>
                </a:moveTo>
                <a:lnTo>
                  <a:pt x="12192000" y="0"/>
                </a:lnTo>
                <a:lnTo>
                  <a:pt x="12192000" y="1075496"/>
                </a:lnTo>
                <a:lnTo>
                  <a:pt x="11950512" y="1052511"/>
                </a:lnTo>
                <a:cubicBezTo>
                  <a:pt x="10021883" y="881226"/>
                  <a:pt x="8069156" y="793750"/>
                  <a:pt x="6095998" y="793750"/>
                </a:cubicBezTo>
                <a:cubicBezTo>
                  <a:pt x="4122840" y="793750"/>
                  <a:pt x="2170114" y="881226"/>
                  <a:pt x="241485" y="1052511"/>
                </a:cubicBezTo>
                <a:lnTo>
                  <a:pt x="0" y="10754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title"/>
          <p:cNvSpPr txBox="1"/>
          <p:nvPr userDrawn="1"/>
        </p:nvSpPr>
        <p:spPr>
          <a:xfrm>
            <a:off x="378491" y="6508337"/>
            <a:ext cx="609600" cy="18415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华文行楷" panose="02010800040101010101" charset="-122"/>
                <a:ea typeface="华文行楷" panose="02010800040101010101" charset="-122"/>
                <a:cs typeface="华文行楷" panose="02010800040101010101" charset="-122"/>
              </a:rPr>
              <a:t>敬业乐群</a:t>
            </a:r>
            <a:endParaRPr lang="zh-CN" altLang="en-US" sz="1200" dirty="0">
              <a:solidFill>
                <a:schemeClr val="bg1">
                  <a:lumMod val="65000"/>
                </a:schemeClr>
              </a:solidFill>
              <a:latin typeface="华文行楷" panose="02010800040101010101" charset="-122"/>
              <a:ea typeface="华文行楷" panose="02010800040101010101" charset="-122"/>
              <a:cs typeface="华文行楷" panose="02010800040101010101" charset="-122"/>
            </a:endParaRPr>
          </a:p>
        </p:txBody>
      </p:sp>
      <p:sp>
        <p:nvSpPr>
          <p:cNvPr id="20" name="页码"/>
          <p:cNvSpPr txBox="1"/>
          <p:nvPr userDrawn="1"/>
        </p:nvSpPr>
        <p:spPr>
          <a:xfrm>
            <a:off x="11587191" y="6505615"/>
            <a:ext cx="187552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200" b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lang="ja-JP" altLang="en-US" sz="12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50" name="椭圆 549"/>
          <p:cNvSpPr/>
          <p:nvPr userDrawn="1"/>
        </p:nvSpPr>
        <p:spPr>
          <a:xfrm>
            <a:off x="11172632" y="643344"/>
            <a:ext cx="767046" cy="7670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标题占位符 15"/>
          <p:cNvSpPr>
            <a:spLocks noGrp="1"/>
          </p:cNvSpPr>
          <p:nvPr>
            <p:ph type="title"/>
          </p:nvPr>
        </p:nvSpPr>
        <p:spPr>
          <a:xfrm>
            <a:off x="378491" y="250254"/>
            <a:ext cx="11435018" cy="480131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pPr marL="0" lvl="0" defTabSz="457200"/>
            <a:endParaRPr lang="zh-CN" altLang="en-US" dirty="0"/>
          </a:p>
        </p:txBody>
      </p:sp>
      <p:pic>
        <p:nvPicPr>
          <p:cNvPr id="3" name="图片 2" descr="C:/Users/11700-1/Downloads/香港城市大学（东莞）-logo-2048px.png香港城市大学（东莞）-logo-2048px"/>
          <p:cNvPicPr>
            <a:picLocks noChangeAspect="1"/>
          </p:cNvPicPr>
          <p:nvPr userDrawn="1"/>
        </p:nvPicPr>
        <p:blipFill>
          <a:blip r:embed="rId12"/>
          <a:srcRect l="-18" r="-3946" b="-4305"/>
          <a:stretch>
            <a:fillRect/>
          </a:stretch>
        </p:blipFill>
        <p:spPr>
          <a:xfrm>
            <a:off x="11226165" y="836930"/>
            <a:ext cx="657283" cy="396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 smtClean="0">
          <a:solidFill>
            <a:schemeClr val="bg1"/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zh-CN" altLang="en-US" sz="2800" b="1" kern="1200" dirty="0" smtClean="0">
          <a:solidFill>
            <a:schemeClr val="tx1">
              <a:lumMod val="85000"/>
              <a:lumOff val="15000"/>
            </a:schemeClr>
          </a:solidFill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zh-CN" altLang="en-US" sz="18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5.xml"/><Relationship Id="rId4" Type="http://schemas.openxmlformats.org/officeDocument/2006/relationships/tags" Target="../tags/tag15.xml"/><Relationship Id="rId3" Type="http://schemas.openxmlformats.org/officeDocument/2006/relationships/image" Target="../media/image6.png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17.xml"/><Relationship Id="rId2" Type="http://schemas.openxmlformats.org/officeDocument/2006/relationships/image" Target="../media/image7.png"/><Relationship Id="rId1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8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9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864352" cy="6858000"/>
          </a:xfrm>
          <a:prstGeom prst="rect">
            <a:avLst/>
          </a:prstGeom>
        </p:spPr>
      </p:pic>
      <p:sp>
        <p:nvSpPr>
          <p:cNvPr id="7" name="任意多边形: 形状 6"/>
          <p:cNvSpPr/>
          <p:nvPr/>
        </p:nvSpPr>
        <p:spPr>
          <a:xfrm flipV="1">
            <a:off x="4093869" y="10"/>
            <a:ext cx="8098131" cy="6857990"/>
          </a:xfrm>
          <a:custGeom>
            <a:avLst/>
            <a:gdLst>
              <a:gd name="connsiteX0" fmla="*/ 3308768 w 9138068"/>
              <a:gd name="connsiteY0" fmla="*/ 0 h 6858000"/>
              <a:gd name="connsiteX1" fmla="*/ 9138068 w 9138068"/>
              <a:gd name="connsiteY1" fmla="*/ 0 h 6858000"/>
              <a:gd name="connsiteX2" fmla="*/ 9138068 w 9138068"/>
              <a:gd name="connsiteY2" fmla="*/ 6858000 h 6858000"/>
              <a:gd name="connsiteX3" fmla="*/ 3308768 w 9138068"/>
              <a:gd name="connsiteY3" fmla="*/ 6858000 h 6858000"/>
              <a:gd name="connsiteX4" fmla="*/ 3308768 w 9138068"/>
              <a:gd name="connsiteY4" fmla="*/ 6857995 h 6858000"/>
              <a:gd name="connsiteX5" fmla="*/ 982260 w 9138068"/>
              <a:gd name="connsiteY5" fmla="*/ 6857995 h 6858000"/>
              <a:gd name="connsiteX6" fmla="*/ 802411 w 9138068"/>
              <a:gd name="connsiteY6" fmla="*/ 6605239 h 6858000"/>
              <a:gd name="connsiteX7" fmla="*/ 0 w 9138068"/>
              <a:gd name="connsiteY7" fmla="*/ 4080042 h 6858000"/>
              <a:gd name="connsiteX8" fmla="*/ 321462 w 9138068"/>
              <a:gd name="connsiteY8" fmla="*/ 2458735 h 6858000"/>
              <a:gd name="connsiteX9" fmla="*/ 400722 w 9138068"/>
              <a:gd name="connsiteY9" fmla="*/ 2281393 h 6858000"/>
              <a:gd name="connsiteX10" fmla="*/ 400722 w 9138068"/>
              <a:gd name="connsiteY10" fmla="*/ 2281393 h 6858000"/>
              <a:gd name="connsiteX11" fmla="*/ 459054 w 9138068"/>
              <a:gd name="connsiteY11" fmla="*/ 2150882 h 6858000"/>
              <a:gd name="connsiteX12" fmla="*/ 2028512 w 9138068"/>
              <a:gd name="connsiteY12" fmla="*/ 198516 h 6858000"/>
              <a:gd name="connsiteX13" fmla="*/ 2274048 w 9138068"/>
              <a:gd name="connsiteY13" fmla="*/ 1 h 6858000"/>
              <a:gd name="connsiteX14" fmla="*/ 3308768 w 9138068"/>
              <a:gd name="connsiteY14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138068" h="6858000">
                <a:moveTo>
                  <a:pt x="3308768" y="0"/>
                </a:moveTo>
                <a:lnTo>
                  <a:pt x="9138068" y="0"/>
                </a:lnTo>
                <a:lnTo>
                  <a:pt x="9138068" y="6858000"/>
                </a:lnTo>
                <a:lnTo>
                  <a:pt x="3308768" y="6858000"/>
                </a:lnTo>
                <a:lnTo>
                  <a:pt x="3308768" y="6857995"/>
                </a:lnTo>
                <a:lnTo>
                  <a:pt x="982260" y="6857995"/>
                </a:lnTo>
                <a:lnTo>
                  <a:pt x="802411" y="6605239"/>
                </a:lnTo>
                <a:cubicBezTo>
                  <a:pt x="285719" y="5829095"/>
                  <a:pt x="0" y="4975768"/>
                  <a:pt x="0" y="4080042"/>
                </a:cubicBezTo>
                <a:cubicBezTo>
                  <a:pt x="0" y="3520214"/>
                  <a:pt x="111609" y="2976948"/>
                  <a:pt x="321462" y="2458735"/>
                </a:cubicBezTo>
                <a:lnTo>
                  <a:pt x="400722" y="2281393"/>
                </a:lnTo>
                <a:lnTo>
                  <a:pt x="400722" y="2281393"/>
                </a:lnTo>
                <a:lnTo>
                  <a:pt x="459054" y="2150882"/>
                </a:lnTo>
                <a:cubicBezTo>
                  <a:pt x="807114" y="1439891"/>
                  <a:pt x="1342493" y="781335"/>
                  <a:pt x="2028512" y="198516"/>
                </a:cubicBezTo>
                <a:lnTo>
                  <a:pt x="2274048" y="1"/>
                </a:lnTo>
                <a:lnTo>
                  <a:pt x="330876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27" name="矩形: 圆角 1026"/>
          <p:cNvSpPr/>
          <p:nvPr/>
        </p:nvSpPr>
        <p:spPr>
          <a:xfrm>
            <a:off x="653365" y="709931"/>
            <a:ext cx="10885270" cy="543813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79400" dist="50800" dir="42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4" name="school"/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78" t="805" r="2063" b="1520"/>
          <a:stretch>
            <a:fillRect/>
          </a:stretch>
        </p:blipFill>
        <p:spPr>
          <a:xfrm>
            <a:off x="5298325" y="709931"/>
            <a:ext cx="6240310" cy="5439600"/>
          </a:xfrm>
          <a:prstGeom prst="rect">
            <a:avLst/>
          </a:prstGeom>
        </p:spPr>
      </p:pic>
      <p:sp>
        <p:nvSpPr>
          <p:cNvPr id="27" name="矩形 26"/>
          <p:cNvSpPr/>
          <p:nvPr/>
        </p:nvSpPr>
        <p:spPr>
          <a:xfrm>
            <a:off x="5283811" y="709931"/>
            <a:ext cx="5511563" cy="5439600"/>
          </a:xfrm>
          <a:prstGeom prst="rect">
            <a:avLst/>
          </a:prstGeom>
          <a:gradFill>
            <a:gsLst>
              <a:gs pos="18000">
                <a:schemeClr val="bg1"/>
              </a:gs>
              <a:gs pos="69000">
                <a:srgbClr val="FFFFFF">
                  <a:alpha val="42000"/>
                </a:srgbClr>
              </a:gs>
              <a:gs pos="100000">
                <a:schemeClr val="bg1">
                  <a:alpha val="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247775" y="2854325"/>
            <a:ext cx="9695815" cy="144272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>
            <a:defPPr>
              <a:defRPr lang="zh-CN"/>
            </a:defPPr>
            <a:lvl1pPr>
              <a:defRPr sz="4000" b="0" i="0">
                <a:solidFill>
                  <a:srgbClr val="37415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algn="l"/>
            <a:r>
              <a:rPr sz="4400" b="1">
                <a:sym typeface="+mn-ea"/>
              </a:rPr>
              <a:t>IT Ticket Management &amp;</a:t>
            </a:r>
            <a:endParaRPr sz="4400" b="1">
              <a:sym typeface="+mn-ea"/>
            </a:endParaRPr>
          </a:p>
          <a:p>
            <a:pPr algn="l"/>
            <a:r>
              <a:rPr sz="4400" b="1">
                <a:sym typeface="+mn-ea"/>
              </a:rPr>
              <a:t> Python Code Analysis Web System</a:t>
            </a:r>
            <a:endParaRPr lang="zh-CN" altLang="en-US" sz="4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79407" y="4763047"/>
            <a:ext cx="6972798" cy="1189354"/>
          </a:xfrm>
          <a:prstGeom prst="roundRect">
            <a:avLst>
              <a:gd name="adj" fmla="val 0"/>
            </a:avLst>
          </a:prstGeom>
          <a:noFill/>
        </p:spPr>
        <p:txBody>
          <a:bodyPr wrap="square" lIns="0" tIns="36000" rIns="108000" bIns="36000">
            <a:spAutoFit/>
          </a:bodyPr>
          <a:lstStyle>
            <a:defPPr>
              <a:defRPr lang="zh-CN"/>
            </a:defPPr>
            <a:lvl1pPr>
              <a:defRPr sz="4000" b="0" i="0">
                <a:solidFill>
                  <a:srgbClr val="37415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Group Members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：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                            Jiaxuan Yue                    Jiahua ZHU                    Linsen SONG                                                         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                            Yanxi JIANG                   Baizhao CHEN               Wenxin LU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O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                            Leying Deng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1282202" y="4593847"/>
            <a:ext cx="4909048" cy="0"/>
          </a:xfrm>
          <a:prstGeom prst="line">
            <a:avLst/>
          </a:prstGeom>
          <a:ln w="25400">
            <a:solidFill>
              <a:schemeClr val="tx1">
                <a:lumMod val="65000"/>
                <a:lumOff val="3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C:/Users/11700-1/Downloads/香港城市大学（东莞）-logo-2048px.png香港城市大学（东莞）-logo-2048px"/>
          <p:cNvPicPr>
            <a:picLocks noChangeAspect="1"/>
          </p:cNvPicPr>
          <p:nvPr/>
        </p:nvPicPr>
        <p:blipFill>
          <a:blip r:embed="rId3"/>
          <a:srcRect l="-1355" r="-2225" b="-7208"/>
          <a:stretch>
            <a:fillRect/>
          </a:stretch>
        </p:blipFill>
        <p:spPr>
          <a:xfrm>
            <a:off x="1282065" y="1301115"/>
            <a:ext cx="1749425" cy="1087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4"/>
          <p:cNvSpPr/>
          <p:nvPr/>
        </p:nvSpPr>
        <p:spPr>
          <a:xfrm flipV="1">
            <a:off x="2476500" y="10"/>
            <a:ext cx="9715501" cy="6857990"/>
          </a:xfrm>
          <a:custGeom>
            <a:avLst/>
            <a:gdLst>
              <a:gd name="connsiteX0" fmla="*/ 1793412 w 8877301"/>
              <a:gd name="connsiteY0" fmla="*/ 0 h 6857990"/>
              <a:gd name="connsiteX1" fmla="*/ 4842751 w 8877301"/>
              <a:gd name="connsiteY1" fmla="*/ 0 h 6857990"/>
              <a:gd name="connsiteX2" fmla="*/ 4952999 w 8877301"/>
              <a:gd name="connsiteY2" fmla="*/ 0 h 6857990"/>
              <a:gd name="connsiteX3" fmla="*/ 8877301 w 8877301"/>
              <a:gd name="connsiteY3" fmla="*/ 0 h 6857990"/>
              <a:gd name="connsiteX4" fmla="*/ 8877301 w 8877301"/>
              <a:gd name="connsiteY4" fmla="*/ 6857990 h 6857990"/>
              <a:gd name="connsiteX5" fmla="*/ 4952999 w 8877301"/>
              <a:gd name="connsiteY5" fmla="*/ 6857990 h 6857990"/>
              <a:gd name="connsiteX6" fmla="*/ 4842751 w 8877301"/>
              <a:gd name="connsiteY6" fmla="*/ 6857990 h 6857990"/>
              <a:gd name="connsiteX7" fmla="*/ 1793412 w 8877301"/>
              <a:gd name="connsiteY7" fmla="*/ 6857990 h 6857990"/>
              <a:gd name="connsiteX8" fmla="*/ 1793412 w 8877301"/>
              <a:gd name="connsiteY8" fmla="*/ 6857985 h 6857990"/>
              <a:gd name="connsiteX9" fmla="*/ 532403 w 8877301"/>
              <a:gd name="connsiteY9" fmla="*/ 6857985 h 6857990"/>
              <a:gd name="connsiteX10" fmla="*/ 434921 w 8877301"/>
              <a:gd name="connsiteY10" fmla="*/ 6605230 h 6857990"/>
              <a:gd name="connsiteX11" fmla="*/ 0 w 8877301"/>
              <a:gd name="connsiteY11" fmla="*/ 4080036 h 6857990"/>
              <a:gd name="connsiteX12" fmla="*/ 174238 w 8877301"/>
              <a:gd name="connsiteY12" fmla="*/ 2458732 h 6857990"/>
              <a:gd name="connsiteX13" fmla="*/ 217199 w 8877301"/>
              <a:gd name="connsiteY13" fmla="*/ 2281390 h 6857990"/>
              <a:gd name="connsiteX14" fmla="*/ 248816 w 8877301"/>
              <a:gd name="connsiteY14" fmla="*/ 2150879 h 6857990"/>
              <a:gd name="connsiteX15" fmla="*/ 1099490 w 8877301"/>
              <a:gd name="connsiteY15" fmla="*/ 198516 h 6857990"/>
              <a:gd name="connsiteX16" fmla="*/ 1232575 w 8877301"/>
              <a:gd name="connsiteY16" fmla="*/ 1 h 6857990"/>
              <a:gd name="connsiteX17" fmla="*/ 1793412 w 8877301"/>
              <a:gd name="connsiteY17" fmla="*/ 1 h 685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877301" h="6857990">
                <a:moveTo>
                  <a:pt x="1793412" y="0"/>
                </a:moveTo>
                <a:lnTo>
                  <a:pt x="4842751" y="0"/>
                </a:lnTo>
                <a:lnTo>
                  <a:pt x="4952999" y="0"/>
                </a:lnTo>
                <a:lnTo>
                  <a:pt x="8877301" y="0"/>
                </a:lnTo>
                <a:lnTo>
                  <a:pt x="8877301" y="6857990"/>
                </a:lnTo>
                <a:lnTo>
                  <a:pt x="4952999" y="6857990"/>
                </a:lnTo>
                <a:lnTo>
                  <a:pt x="4842751" y="6857990"/>
                </a:lnTo>
                <a:lnTo>
                  <a:pt x="1793412" y="6857990"/>
                </a:lnTo>
                <a:lnTo>
                  <a:pt x="1793412" y="6857985"/>
                </a:lnTo>
                <a:lnTo>
                  <a:pt x="532403" y="6857985"/>
                </a:lnTo>
                <a:lnTo>
                  <a:pt x="434921" y="6605230"/>
                </a:lnTo>
                <a:cubicBezTo>
                  <a:pt x="154865" y="5829087"/>
                  <a:pt x="0" y="4975761"/>
                  <a:pt x="0" y="4080036"/>
                </a:cubicBezTo>
                <a:cubicBezTo>
                  <a:pt x="0" y="3520209"/>
                  <a:pt x="60494" y="2976944"/>
                  <a:pt x="174238" y="2458732"/>
                </a:cubicBezTo>
                <a:lnTo>
                  <a:pt x="217199" y="2281390"/>
                </a:lnTo>
                <a:lnTo>
                  <a:pt x="248816" y="2150879"/>
                </a:lnTo>
                <a:cubicBezTo>
                  <a:pt x="437470" y="1439889"/>
                  <a:pt x="727655" y="781334"/>
                  <a:pt x="1099490" y="198516"/>
                </a:cubicBezTo>
                <a:lnTo>
                  <a:pt x="1232575" y="1"/>
                </a:lnTo>
                <a:lnTo>
                  <a:pt x="1793412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矩形: 圆角 33"/>
          <p:cNvSpPr/>
          <p:nvPr/>
        </p:nvSpPr>
        <p:spPr>
          <a:xfrm>
            <a:off x="653365" y="709931"/>
            <a:ext cx="10885270" cy="543813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outerShdw blurRad="279400" dist="50800" dir="42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TextBox 7"/>
          <p:cNvSpPr txBox="1"/>
          <p:nvPr>
            <p:custDataLst>
              <p:tags r:id="rId1"/>
            </p:custDataLst>
          </p:nvPr>
        </p:nvSpPr>
        <p:spPr>
          <a:xfrm>
            <a:off x="2827020" y="1994535"/>
            <a:ext cx="3195320" cy="1660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Python Code Quality Analysis System</a:t>
            </a:r>
            <a:endParaRPr lang="en-US" altLang="zh-CN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Supports pylint / flake8 / nested-loop detection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atinLnBrk="1">
              <a:lnSpc>
                <a:spcPct val="150000"/>
              </a:lnSpc>
              <a:defRPr/>
            </a:pP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1" name="直接连接符 10"/>
          <p:cNvCxnSpPr/>
          <p:nvPr>
            <p:custDataLst>
              <p:tags r:id="rId2"/>
            </p:custDataLst>
          </p:nvPr>
        </p:nvCxnSpPr>
        <p:spPr>
          <a:xfrm>
            <a:off x="2599330" y="2181069"/>
            <a:ext cx="0" cy="1094013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1752144" y="2044817"/>
            <a:ext cx="985566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i="0" u="none" baseline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rPr>
              <a:t>01</a:t>
            </a:r>
            <a:endParaRPr lang="en-US" altLang="zh-CN" sz="3600" b="1" i="0" u="none" baseline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MW Type Global Bold" pitchFamily="2" charset="-122"/>
            </a:endParaRPr>
          </a:p>
        </p:txBody>
      </p:sp>
      <p:sp>
        <p:nvSpPr>
          <p:cNvPr id="13" name="TextBox 7"/>
          <p:cNvSpPr txBox="1"/>
          <p:nvPr>
            <p:custDataLst>
              <p:tags r:id="rId4"/>
            </p:custDataLst>
          </p:nvPr>
        </p:nvSpPr>
        <p:spPr>
          <a:xfrm>
            <a:off x="7471278" y="1994098"/>
            <a:ext cx="3053847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IT Ticket Management System</a:t>
            </a:r>
            <a:endParaRPr lang="en-US" altLang="zh-CN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Admin + User functional workflows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>
            <p:custDataLst>
              <p:tags r:id="rId5"/>
            </p:custDataLst>
          </p:nvPr>
        </p:nvCxnSpPr>
        <p:spPr>
          <a:xfrm>
            <a:off x="7243105" y="2181069"/>
            <a:ext cx="0" cy="1094013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6348294" y="2044817"/>
            <a:ext cx="985566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i="0" u="none" baseline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rPr>
              <a:t>02</a:t>
            </a:r>
            <a:endParaRPr lang="en-US" altLang="zh-CN" sz="3600" b="1" i="0" u="none" baseline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MW Type Global Bold" pitchFamily="2" charset="-122"/>
            </a:endParaRPr>
          </a:p>
        </p:txBody>
      </p:sp>
      <p:sp>
        <p:nvSpPr>
          <p:cNvPr id="16" name="TextBox 7"/>
          <p:cNvSpPr txBox="1"/>
          <p:nvPr>
            <p:custDataLst>
              <p:tags r:id="rId7"/>
            </p:custDataLst>
          </p:nvPr>
        </p:nvSpPr>
        <p:spPr>
          <a:xfrm>
            <a:off x="2817495" y="4045585"/>
            <a:ext cx="3098800" cy="2122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en-US" altLang="zh-CN" sz="16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Technology Stack</a:t>
            </a:r>
            <a:endParaRPr lang="en-US" altLang="zh-CN" sz="16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Backend Framework: Flask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Module System: Blueprint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Data Storage: JSON Files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Frontend: HTML Templates (rendered by Flask)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atinLnBrk="1">
              <a:lnSpc>
                <a:spcPct val="150000"/>
              </a:lnSpc>
              <a:defRPr/>
            </a:pP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8"/>
            </p:custDataLst>
          </p:nvPr>
        </p:nvCxnSpPr>
        <p:spPr>
          <a:xfrm>
            <a:off x="2589805" y="4232572"/>
            <a:ext cx="0" cy="1094013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1752144" y="4096320"/>
            <a:ext cx="985566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i="0" u="none" baseline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rPr>
              <a:t>03</a:t>
            </a:r>
            <a:endParaRPr lang="en-US" altLang="zh-CN" sz="3600" b="1" i="0" u="none" baseline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MW Type Global Bold" pitchFamily="2" charset="-122"/>
            </a:endParaRPr>
          </a:p>
        </p:txBody>
      </p:sp>
      <p:sp>
        <p:nvSpPr>
          <p:cNvPr id="19" name="TextBox 7"/>
          <p:cNvSpPr txBox="1"/>
          <p:nvPr>
            <p:custDataLst>
              <p:tags r:id="rId10"/>
            </p:custDataLst>
          </p:nvPr>
        </p:nvSpPr>
        <p:spPr>
          <a:xfrm>
            <a:off x="7490091" y="4045837"/>
            <a:ext cx="2852307" cy="1907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en-US" altLang="zh-CN" sz="1865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Key Features</a:t>
            </a:r>
            <a:endParaRPr lang="en-US" altLang="zh-CN" sz="1865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Clean modular design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No external database required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450" indent="-171450" latinLnBrk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Supports both developer tools &amp; task management workflows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atinLnBrk="1">
              <a:lnSpc>
                <a:spcPct val="150000"/>
              </a:lnSpc>
              <a:defRPr/>
            </a:pP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20" name="直接连接符 19"/>
          <p:cNvCxnSpPr/>
          <p:nvPr>
            <p:custDataLst>
              <p:tags r:id="rId11"/>
            </p:custDataLst>
          </p:nvPr>
        </p:nvCxnSpPr>
        <p:spPr>
          <a:xfrm>
            <a:off x="7262155" y="4232572"/>
            <a:ext cx="0" cy="1094013"/>
          </a:xfrm>
          <a:prstGeom prst="line">
            <a:avLst/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" name="文本框 20"/>
          <p:cNvSpPr txBox="1"/>
          <p:nvPr>
            <p:custDataLst>
              <p:tags r:id="rId12"/>
            </p:custDataLst>
          </p:nvPr>
        </p:nvSpPr>
        <p:spPr>
          <a:xfrm>
            <a:off x="6348294" y="4096320"/>
            <a:ext cx="985566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 rtl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i="0" u="none" baseline="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BMW Type Global Bold" pitchFamily="2" charset="-122"/>
              </a:rPr>
              <a:t>04</a:t>
            </a:r>
            <a:endParaRPr lang="en-US" altLang="zh-CN" sz="3600" b="1" i="0" u="none" baseline="0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BMW Type Global Bold" pitchFamily="2" charset="-122"/>
            </a:endParaRPr>
          </a:p>
        </p:txBody>
      </p:sp>
      <p:sp>
        <p:nvSpPr>
          <p:cNvPr id="33" name="页码"/>
          <p:cNvSpPr txBox="1"/>
          <p:nvPr/>
        </p:nvSpPr>
        <p:spPr>
          <a:xfrm>
            <a:off x="11587191" y="6505615"/>
            <a:ext cx="187552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48DBFAF-01A5-47DE-A33F-834723B47D4E}" type="slidenum">
              <a:rPr lang="ja-JP" altLang="en-US" sz="1200" b="1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</a:fld>
            <a:endParaRPr lang="ja-JP" altLang="en-US" sz="1200" b="1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201721" y="1002365"/>
            <a:ext cx="4287520" cy="755650"/>
            <a:chOff x="273613" y="1040716"/>
            <a:chExt cx="4287520" cy="755650"/>
          </a:xfrm>
        </p:grpSpPr>
        <p:sp>
          <p:nvSpPr>
            <p:cNvPr id="7" name="TextBox 7"/>
            <p:cNvSpPr txBox="1"/>
            <p:nvPr/>
          </p:nvSpPr>
          <p:spPr>
            <a:xfrm>
              <a:off x="273613" y="1040716"/>
              <a:ext cx="4287520" cy="7556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Project Overview</a:t>
              </a:r>
              <a:endPara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448131" y="1750786"/>
              <a:ext cx="536552" cy="0"/>
            </a:xfrm>
            <a:prstGeom prst="line">
              <a:avLst/>
            </a:prstGeom>
            <a:ln w="50800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8491" y="250254"/>
            <a:ext cx="11435018" cy="865505"/>
          </a:xfrm>
        </p:spPr>
        <p:txBody>
          <a:bodyPr/>
          <a:lstStyle/>
          <a:p>
            <a:r>
              <a:rPr lang="en-US" altLang="zh-CN" dirty="0"/>
              <a:t>System Architecture</a:t>
            </a:r>
            <a:br>
              <a:rPr lang="en-US" altLang="zh-CN" dirty="0"/>
            </a:br>
            <a:endParaRPr lang="en-US" altLang="zh-CN" dirty="0"/>
          </a:p>
        </p:txBody>
      </p:sp>
      <p:sp>
        <p:nvSpPr>
          <p:cNvPr id="6" name="TextBox 3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023699" y="4508797"/>
            <a:ext cx="5807683" cy="11760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285750" indent="-28575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it_ticket.py is registered as a Blueprint at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/tickets.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Box 31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5951646" y="6017060"/>
            <a:ext cx="5255881" cy="7607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latinLnBrk="1"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Both modules share the same Flask server.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275" y="1127125"/>
            <a:ext cx="4303395" cy="5650865"/>
          </a:xfrm>
          <a:prstGeom prst="rect">
            <a:avLst/>
          </a:prstGeom>
        </p:spPr>
      </p:pic>
      <p:sp>
        <p:nvSpPr>
          <p:cNvPr id="26" name="TextBox 31"/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6137275" y="1426845"/>
            <a:ext cx="6010275" cy="9353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noAutofit/>
          </a:bodyPr>
          <a:lstStyle/>
          <a:p>
            <a:pPr marL="285750" indent="-285750" latinLnBrk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main.py is the primary entry of the web 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atinLnBrk="1"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application.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78491" y="250254"/>
            <a:ext cx="11435018" cy="478155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Code Analysis Module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main.py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Rectangle 33"/>
          <p:cNvSpPr/>
          <p:nvPr>
            <p:custDataLst>
              <p:tags r:id="rId1"/>
            </p:custDataLst>
          </p:nvPr>
        </p:nvSpPr>
        <p:spPr>
          <a:xfrm>
            <a:off x="681990" y="1050925"/>
            <a:ext cx="9201150" cy="5683250"/>
          </a:xfrm>
          <a:prstGeom prst="rect">
            <a:avLst/>
          </a:prstGeom>
        </p:spPr>
        <p:txBody>
          <a:bodyPr wrap="square" lIns="0" tIns="72000" rIns="0" bIns="72000">
            <a:spAutoFit/>
          </a:bodyPr>
          <a:lstStyle/>
          <a:p>
            <a:pPr marL="285750" marR="0" lvl="0" indent="-28575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lang="en-US" altLang="zh-CN" b="1">
                <a:solidFill>
                  <a:schemeClr val="accent1"/>
                </a:solidFill>
                <a:sym typeface="+mn-ea"/>
              </a:rPr>
              <a:t>Purpose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A lightweight online Python code checking service.</a:t>
            </a:r>
            <a:endParaRPr lang="en-US" altLang="zh-CN"/>
          </a:p>
          <a:p>
            <a:pPr marL="285750" marR="0" lvl="0" indent="-28575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lang="en-US" altLang="zh-CN" b="1">
                <a:solidFill>
                  <a:schemeClr val="accent1"/>
                </a:solidFill>
                <a:sym typeface="+mn-ea"/>
              </a:rPr>
              <a:t>Core Features</a:t>
            </a:r>
            <a:r>
              <a:rPr lang="zh-CN" altLang="en-US">
                <a:sym typeface="+mn-ea"/>
              </a:rPr>
              <a:t>：</a:t>
            </a:r>
            <a:endParaRPr lang="zh-CN" altLang="en-US">
              <a:sym typeface="+mn-ea"/>
            </a:endParaRPr>
          </a:p>
          <a:p>
            <a:pPr marL="742950" marR="0" lvl="1" indent="-28575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Upload Python File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R="0" lvl="2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-- File saved into /uploads directory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742950" marR="0" lvl="1" indent="-28575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Select Check Types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R="0" lvl="2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>
                <a:sym typeface="+mn-ea"/>
              </a:rPr>
              <a:t>--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pylint: Code style &amp; error detection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R="0" lvl="2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>
                <a:sym typeface="+mn-ea"/>
              </a:rPr>
              <a:t>-- </a:t>
            </a:r>
            <a:r>
              <a:rPr lang="en-US" altLang="zh-CN">
                <a:sym typeface="+mn-ea"/>
              </a:rPr>
              <a:t>flake8: Syntax &amp; linting errors</a:t>
            </a:r>
            <a:endParaRPr lang="en-US" altLang="zh-CN">
              <a:sym typeface="+mn-ea"/>
            </a:endParaRPr>
          </a:p>
          <a:p>
            <a:pPr marR="0" lvl="2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>
                <a:sym typeface="+mn-ea"/>
              </a:rPr>
              <a:t>-- </a:t>
            </a:r>
            <a:r>
              <a:rPr lang="en-US" altLang="zh-CN">
                <a:sym typeface="+mn-ea"/>
              </a:rPr>
              <a:t>Loop analyzer: counts maximum nested loops</a:t>
            </a:r>
            <a:endParaRPr lang="en-US" altLang="zh-CN">
              <a:sym typeface="+mn-ea"/>
            </a:endParaRPr>
          </a:p>
          <a:p>
            <a:pPr marL="742950" marR="0" lvl="1" indent="-28575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Backend Execution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R="0" lvl="2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>
                <a:sym typeface="+mn-ea"/>
              </a:rPr>
              <a:t>--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Uses subprocess.run() to call system tools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R="0" lvl="2" indent="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>
                <a:sym typeface="+mn-ea"/>
              </a:rPr>
              <a:t>-- </a:t>
            </a:r>
            <a:r>
              <a:rPr lang="en-US" altLang="zh-CN">
                <a:sym typeface="+mn-ea"/>
              </a:rPr>
              <a:t>Results are displayed back in HTML</a:t>
            </a:r>
            <a:endParaRPr lang="en-US" altLang="zh-CN"/>
          </a:p>
          <a:p>
            <a:pPr marL="285750" marR="0" lvl="0" indent="-28575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l"/>
              <a:defRPr/>
            </a:pPr>
            <a:r>
              <a:rPr lang="en-US" altLang="zh-CN">
                <a:sym typeface="+mn-ea"/>
              </a:rPr>
              <a:t>Loop Depth Analyzer Example</a:t>
            </a:r>
            <a:r>
              <a:rPr lang="zh-CN" altLang="en-US">
                <a:sym typeface="+mn-ea"/>
              </a:rPr>
              <a:t>：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>
                <a:sym typeface="+mn-ea"/>
              </a:rPr>
              <a:t>Detects patterns like:</a:t>
            </a:r>
            <a:endParaRPr lang="en-US" altLang="zh-CN"/>
          </a:p>
          <a:p>
            <a:pPr lvl="1"/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880" y="5334635"/>
            <a:ext cx="6055360" cy="139954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78491" y="250254"/>
            <a:ext cx="11435018" cy="865505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Admin Features</a:t>
            </a:r>
            <a:br>
              <a:rPr lang="en-US" altLang="zh-CN" dirty="0">
                <a:solidFill>
                  <a:schemeClr val="bg1"/>
                </a:solidFill>
              </a:rPr>
            </a:b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2209800" y="150495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600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933450" y="1504950"/>
            <a:ext cx="4724400" cy="29743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/>
              <a:t>Create User</a:t>
            </a:r>
            <a:endParaRPr lang="en-US" altLang="zh-CN" sz="2000"/>
          </a:p>
          <a:p>
            <a:pPr lvl="1"/>
            <a:r>
              <a:rPr lang="en-US" altLang="zh-CN" sz="1600"/>
              <a:t>Adds new user to users.json</a:t>
            </a:r>
            <a:endParaRPr lang="en-US" altLang="zh-CN" sz="1600"/>
          </a:p>
          <a:p>
            <a:pPr lvl="1"/>
            <a:r>
              <a:rPr lang="en-US" altLang="zh-CN" sz="1600"/>
              <a:t>Prevents duplicate usernames</a:t>
            </a:r>
            <a:endParaRPr lang="en-US" altLang="zh-CN" sz="1600"/>
          </a:p>
          <a:p>
            <a:r>
              <a:rPr lang="en-US" altLang="zh-CN" sz="2000"/>
              <a:t>Add Task</a:t>
            </a:r>
            <a:endParaRPr lang="en-US" altLang="zh-CN" sz="2000"/>
          </a:p>
          <a:p>
            <a:pPr lvl="1"/>
            <a:r>
              <a:rPr lang="en-US" altLang="zh-CN" sz="1600"/>
              <a:t>Fields:Title</a:t>
            </a:r>
            <a:r>
              <a:rPr lang="zh-CN" altLang="en-US" sz="1600"/>
              <a:t>、</a:t>
            </a:r>
            <a:r>
              <a:rPr lang="en-US" altLang="zh-CN" sz="1600"/>
              <a:t>Assigned User</a:t>
            </a:r>
            <a:r>
              <a:rPr lang="zh-CN" altLang="en-US" sz="1600"/>
              <a:t>、</a:t>
            </a:r>
            <a:r>
              <a:rPr lang="en-US" altLang="zh-CN" sz="1600"/>
              <a:t>Priority (1~3)</a:t>
            </a:r>
            <a:endParaRPr lang="en-US" altLang="zh-CN" sz="1600"/>
          </a:p>
          <a:p>
            <a:r>
              <a:rPr lang="en-US" altLang="zh-CN" sz="2000"/>
              <a:t>View Tasks</a:t>
            </a:r>
            <a:endParaRPr lang="en-US" altLang="zh-CN" sz="2000"/>
          </a:p>
          <a:p>
            <a:pPr lvl="1"/>
            <a:r>
              <a:rPr lang="en-US" altLang="zh-CN" sz="1600"/>
              <a:t>Automatically sorted by priority</a:t>
            </a:r>
            <a:endParaRPr lang="en-US" altLang="zh-CN" sz="1600"/>
          </a:p>
          <a:p>
            <a:pPr lvl="1"/>
            <a:r>
              <a:rPr lang="en-US" altLang="zh-CN" sz="1600"/>
              <a:t>Table-like presentation</a:t>
            </a:r>
            <a:endParaRPr lang="en-US" altLang="zh-CN" sz="1600"/>
          </a:p>
          <a:p>
            <a:endParaRPr lang="en-US" altLang="zh-CN" sz="16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4190" y="4235450"/>
            <a:ext cx="8368030" cy="2039620"/>
          </a:xfrm>
          <a:prstGeom prst="rect">
            <a:avLst/>
          </a:prstGeom>
        </p:spPr>
      </p:pic>
      <p:sp>
        <p:nvSpPr>
          <p:cNvPr id="7" name="Content Placeholder 2"/>
          <p:cNvSpPr>
            <a:spLocks noGrp="1"/>
          </p:cNvSpPr>
          <p:nvPr/>
        </p:nvSpPr>
        <p:spPr>
          <a:xfrm>
            <a:off x="6362700" y="1504950"/>
            <a:ext cx="4724400" cy="29743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/>
              <a:t>Delete Task</a:t>
            </a:r>
            <a:endParaRPr lang="en-US" altLang="zh-CN" sz="2000"/>
          </a:p>
          <a:p>
            <a:pPr lvl="1"/>
            <a:r>
              <a:rPr lang="en-US" altLang="zh-CN" sz="1600"/>
              <a:t>Removes by task ID</a:t>
            </a:r>
            <a:endParaRPr lang="en-US" altLang="zh-CN" sz="1600"/>
          </a:p>
          <a:p>
            <a:r>
              <a:rPr lang="en-US" altLang="zh-CN" sz="2000"/>
              <a:t>Change Task Priority</a:t>
            </a:r>
            <a:endParaRPr lang="en-US" altLang="zh-CN" sz="2000"/>
          </a:p>
          <a:p>
            <a:pPr lvl="1"/>
            <a:r>
              <a:rPr lang="en-US" altLang="zh-CN" sz="1600">
                <a:solidFill>
                  <a:schemeClr val="tx1"/>
                </a:solidFill>
              </a:rPr>
              <a:t>Priority cycles through: 1 </a:t>
            </a:r>
            <a:r>
              <a:rPr lang="en-US" altLang="zh-CN" sz="1600"/>
              <a:t>→ 2 → 3 → 1</a:t>
            </a:r>
            <a:endParaRPr lang="en-US" altLang="zh-CN" sz="1600"/>
          </a:p>
          <a:p>
            <a:r>
              <a:rPr lang="en-US" altLang="zh-CN" sz="2000"/>
              <a:t>View &amp; Handle User Requests</a:t>
            </a:r>
            <a:endParaRPr lang="en-US" altLang="zh-CN" sz="2000"/>
          </a:p>
          <a:p>
            <a:pPr lvl="1"/>
            <a:r>
              <a:rPr lang="en-US" altLang="zh-CN" sz="1600"/>
              <a:t>Accepts or dismisses user-submitted task modifications</a:t>
            </a:r>
            <a:endParaRPr lang="en-US" altLang="zh-CN" sz="1600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 28"/>
          <p:cNvSpPr>
            <a:spLocks noGrp="1"/>
          </p:cNvSpPr>
          <p:nvPr>
            <p:ph type="title"/>
          </p:nvPr>
        </p:nvSpPr>
        <p:spPr>
          <a:xfrm>
            <a:off x="378491" y="250254"/>
            <a:ext cx="11435018" cy="865505"/>
          </a:xfrm>
        </p:spPr>
        <p:txBody>
          <a:bodyPr/>
          <a:lstStyle/>
          <a:p>
            <a:r>
              <a:rPr lang="en-US" altLang="zh-CN" dirty="0">
                <a:solidFill>
                  <a:schemeClr val="bg1"/>
                </a:solidFill>
              </a:rPr>
              <a:t>User Features</a:t>
            </a:r>
            <a:br>
              <a:rPr lang="en-US" altLang="zh-CN" dirty="0">
                <a:solidFill>
                  <a:schemeClr val="bg1"/>
                </a:solidFill>
              </a:rPr>
            </a:b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/>
        </p:nvSpPr>
        <p:spPr>
          <a:xfrm>
            <a:off x="2209800" y="150495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600"/>
          </a:p>
        </p:txBody>
      </p:sp>
      <p:sp>
        <p:nvSpPr>
          <p:cNvPr id="4" name="Content Placeholder 2"/>
          <p:cNvSpPr>
            <a:spLocks noGrp="1"/>
          </p:cNvSpPr>
          <p:nvPr/>
        </p:nvSpPr>
        <p:spPr>
          <a:xfrm>
            <a:off x="1085850" y="1115695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>
                <a:sym typeface="+mn-ea"/>
              </a:rPr>
              <a:t>View Assigned Tasks</a:t>
            </a:r>
            <a:endParaRPr lang="en-US" altLang="zh-CN" sz="2000"/>
          </a:p>
          <a:p>
            <a:pPr lvl="1"/>
            <a:r>
              <a:rPr lang="en-US" altLang="zh-CN" sz="2000">
                <a:sym typeface="+mn-ea"/>
              </a:rPr>
              <a:t>Sorted by priority</a:t>
            </a:r>
            <a:endParaRPr lang="en-US" altLang="zh-CN" sz="2000"/>
          </a:p>
          <a:p>
            <a:pPr lvl="1"/>
            <a:r>
              <a:rPr lang="en-US" altLang="zh-CN" sz="2000">
                <a:sym typeface="+mn-ea"/>
              </a:rPr>
              <a:t>Displays on personal dashboard:/tickets/user/&lt;username&gt;</a:t>
            </a:r>
            <a:endParaRPr lang="en-US" altLang="zh-CN" sz="2000"/>
          </a:p>
          <a:p>
            <a:r>
              <a:rPr lang="en-US" altLang="zh-CN" sz="2000">
                <a:sym typeface="+mn-ea"/>
              </a:rPr>
              <a:t>Submit Delete Request</a:t>
            </a:r>
            <a:endParaRPr lang="en-US" altLang="zh-CN" sz="2000"/>
          </a:p>
          <a:p>
            <a:pPr lvl="1"/>
            <a:r>
              <a:rPr lang="en-US" altLang="zh-CN" sz="2000">
                <a:sym typeface="+mn-ea"/>
              </a:rPr>
              <a:t>Generates a JSON record:</a:t>
            </a:r>
            <a:endParaRPr lang="en-US" altLang="zh-CN" sz="2000"/>
          </a:p>
          <a:p>
            <a:pPr marL="457200" lvl="1" indent="0">
              <a:buNone/>
            </a:pPr>
            <a:endParaRPr lang="en-US" altLang="zh-CN" sz="2000"/>
          </a:p>
          <a:p>
            <a:pPr lvl="1"/>
            <a:endParaRPr lang="en-US" altLang="zh-CN" sz="2000"/>
          </a:p>
          <a:p>
            <a:pPr lvl="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lvl="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lvl="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lvl="0"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2000">
                <a:sym typeface="+mn-ea"/>
              </a:rPr>
              <a:t>Submit Priority Change Request</a:t>
            </a:r>
            <a:endParaRPr lang="en-US" altLang="zh-CN" sz="2000"/>
          </a:p>
          <a:p>
            <a:pPr marL="742950" lvl="1" indent="-285750">
              <a:buFont typeface="Arial" panose="020B0604020202020204" pitchFamily="34" charset="0"/>
              <a:buChar char="–"/>
            </a:pPr>
            <a:r>
              <a:rPr lang="en-US" altLang="zh-CN" sz="2000">
                <a:sym typeface="+mn-ea"/>
              </a:rPr>
              <a:t>Same mechanism as above</a:t>
            </a:r>
            <a:endParaRPr lang="en-US" altLang="zh-CN" sz="20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–"/>
            </a:pPr>
            <a:r>
              <a:rPr lang="en-US" altLang="zh-CN" sz="2000">
                <a:sym typeface="+mn-ea"/>
              </a:rPr>
              <a:t>Request type changes to priority</a:t>
            </a:r>
            <a:endParaRPr lang="en-US" altLang="zh-CN" sz="2000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en-US" altLang="zh-CN" sz="2000">
                <a:sym typeface="+mn-ea"/>
              </a:rPr>
              <a:t>Requests remain pending until admin action</a:t>
            </a:r>
            <a:endParaRPr lang="en-US" altLang="zh-CN" sz="16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7250" y="2941320"/>
            <a:ext cx="5591810" cy="22059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490980" y="4302125"/>
          <a:ext cx="9048115" cy="19088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82185"/>
                <a:gridCol w="4265930"/>
              </a:tblGrid>
              <a:tr h="62293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400"/>
                        <a:t>File</a:t>
                      </a:r>
                      <a:endParaRPr lang="en-US" altLang="zh-CN" sz="2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2400"/>
                        <a:t>Description</a:t>
                      </a:r>
                      <a:endParaRPr lang="en-US" altLang="zh-CN" sz="240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users.json</a:t>
                      </a:r>
                      <a:endParaRPr lang="en-US" altLang="zh-CN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All users</a:t>
                      </a:r>
                      <a:endParaRPr lang="en-US" altLang="zh-CN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683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tasks.json</a:t>
                      </a:r>
                      <a:endParaRPr lang="en-US" altLang="zh-CN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Task list</a:t>
                      </a:r>
                      <a:endParaRPr lang="en-US" altLang="zh-CN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5518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requests.json</a:t>
                      </a:r>
                      <a:endParaRPr lang="en-US" altLang="zh-CN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User requests</a:t>
                      </a:r>
                      <a:endParaRPr lang="en-US" altLang="zh-CN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78491" y="250254"/>
            <a:ext cx="11435018" cy="478155"/>
          </a:xfrm>
          <a:prstGeom prst="rect">
            <a:avLst/>
          </a:prstGeom>
        </p:spPr>
        <p:txBody>
          <a:bodyPr/>
          <a:lstStyle/>
          <a:p>
            <a:r>
              <a:rPr>
                <a:sym typeface="+mn-ea"/>
              </a:rPr>
              <a:t>Ticket System Overview</a:t>
            </a:r>
            <a:endParaRPr lang="zh-CN" altLang="en-US" dirty="0"/>
          </a:p>
        </p:txBody>
      </p:sp>
      <p:sp>
        <p:nvSpPr>
          <p:cNvPr id="2" name="Content Placeholder 2"/>
          <p:cNvSpPr>
            <a:spLocks noGrp="1"/>
          </p:cNvSpPr>
          <p:nvPr/>
        </p:nvSpPr>
        <p:spPr>
          <a:xfrm>
            <a:off x="1295400" y="1165860"/>
            <a:ext cx="8791575" cy="3136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Module Purpose</a:t>
            </a:r>
            <a:r>
              <a:rPr lang="zh-CN" altLang="en-US" sz="1800"/>
              <a:t>：</a:t>
            </a:r>
            <a:r>
              <a:rPr lang="en-US" altLang="zh-CN" sz="1800"/>
              <a:t>Provide a minimal IT Task Management System with logical workflows.</a:t>
            </a:r>
            <a:endParaRPr lang="en-US" altLang="zh-CN" sz="1800"/>
          </a:p>
          <a:p>
            <a:r>
              <a:rPr lang="en-US" altLang="zh-CN" sz="1800"/>
              <a:t>Roles</a:t>
            </a:r>
            <a:r>
              <a:rPr lang="zh-CN" altLang="en-US" sz="1800"/>
              <a:t>：</a:t>
            </a:r>
            <a:endParaRPr lang="zh-CN" altLang="en-US" sz="1800"/>
          </a:p>
          <a:p>
            <a:pPr lvl="1"/>
            <a:r>
              <a:rPr lang="en-US" altLang="zh-CN" sz="1800"/>
              <a:t>Admin</a:t>
            </a:r>
            <a:endParaRPr lang="en-US" altLang="zh-CN" sz="1800"/>
          </a:p>
          <a:p>
            <a:pPr marL="914400" lvl="2" indent="0">
              <a:buNone/>
            </a:pPr>
            <a:r>
              <a:rPr lang="en-US" altLang="zh-CN" sz="1800"/>
              <a:t>Manages users &amp; tasks</a:t>
            </a:r>
            <a:endParaRPr lang="en-US" altLang="zh-CN" sz="1800"/>
          </a:p>
          <a:p>
            <a:pPr marL="914400" lvl="2" indent="0">
              <a:buNone/>
            </a:pPr>
            <a:r>
              <a:rPr lang="en-US" altLang="zh-CN" sz="1800"/>
              <a:t>Handles pending user requests</a:t>
            </a:r>
            <a:endParaRPr lang="en-US" altLang="zh-CN" sz="1800"/>
          </a:p>
          <a:p>
            <a:pPr lvl="1"/>
            <a:r>
              <a:rPr lang="en-US" altLang="zh-CN" sz="1800"/>
              <a:t>User</a:t>
            </a:r>
            <a:endParaRPr lang="en-US" altLang="zh-CN" sz="1800"/>
          </a:p>
          <a:p>
            <a:pPr marL="914400" lvl="2" indent="0">
              <a:buNone/>
            </a:pPr>
            <a:r>
              <a:rPr lang="en-US" altLang="zh-CN" sz="1800"/>
              <a:t>Views personal tasks</a:t>
            </a:r>
            <a:endParaRPr lang="en-US" altLang="zh-CN" sz="1800"/>
          </a:p>
          <a:p>
            <a:pPr marL="914400" lvl="2" indent="0">
              <a:buNone/>
            </a:pPr>
            <a:r>
              <a:rPr lang="en-US" altLang="zh-CN" sz="1800"/>
              <a:t>Submits requests (delete task / change priority)</a:t>
            </a:r>
            <a:endParaRPr lang="en-US" altLang="zh-CN" sz="180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altLang="zh-CN" sz="1800">
                <a:solidFill>
                  <a:schemeClr val="tx1"/>
                </a:solidFill>
              </a:rPr>
              <a:t>Data Storage</a:t>
            </a:r>
            <a:r>
              <a:rPr lang="zh-CN" altLang="en-US" sz="1800"/>
              <a:t>：</a:t>
            </a:r>
            <a:r>
              <a:rPr lang="en-US" altLang="zh-CN" sz="1800"/>
              <a:t> JSON</a:t>
            </a:r>
            <a:endParaRPr lang="en-US" altLang="zh-CN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title"/>
          </p:nvPr>
        </p:nvSpPr>
        <p:spPr>
          <a:xfrm>
            <a:off x="378491" y="250254"/>
            <a:ext cx="11435018" cy="478155"/>
          </a:xfrm>
        </p:spPr>
        <p:txBody>
          <a:bodyPr/>
          <a:lstStyle/>
          <a:p>
            <a:r>
              <a:rPr>
                <a:sym typeface="+mn-ea"/>
              </a:rPr>
              <a:t>System Workflow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291455" y="2884805"/>
            <a:ext cx="668147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Admin controls task lifecycle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User can propose modifications</a:t>
            </a: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400"/>
              <a:t>JSON files maintain persistent state</a:t>
            </a:r>
            <a:endParaRPr lang="en-US" altLang="zh-CN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" y="920750"/>
            <a:ext cx="5137785" cy="6090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49.98410746978277,&quot;left&quot;:137.96409448818895,&quot;top&quot;:157.01557756958738,&quot;width&quot;:700.5359055118117}"/>
</p:tagLst>
</file>

<file path=ppt/tags/tag2.xml><?xml version="1.0" encoding="utf-8"?>
<p:tagLst xmlns:p="http://schemas.openxmlformats.org/presentationml/2006/main">
  <p:tag name="KSO_WM_DIAGRAM_VIRTUALLY_FRAME" val="{&quot;height&quot;:449.98410746978277,&quot;left&quot;:137.96409448818895,&quot;top&quot;:157.01557756958738,&quot;width&quot;:700.5359055118117}"/>
</p:tagLst>
</file>

<file path=ppt/tags/tag3.xml><?xml version="1.0" encoding="utf-8"?>
<p:tagLst xmlns:p="http://schemas.openxmlformats.org/presentationml/2006/main">
  <p:tag name="KSO_WM_DIAGRAM_VIRTUALLY_FRAME" val="{&quot;height&quot;:449.98410746978277,&quot;left&quot;:137.96409448818895,&quot;top&quot;:157.01557756958738,&quot;width&quot;:700.5359055118117}"/>
</p:tagLst>
</file>

<file path=ppt/tags/tag4.xml><?xml version="1.0" encoding="utf-8"?>
<p:tagLst xmlns:p="http://schemas.openxmlformats.org/presentationml/2006/main">
  <p:tag name="KSO_WM_DIAGRAM_VIRTUALLY_FRAME" val="{&quot;height&quot;:449.98410746978277,&quot;left&quot;:137.96409448818895,&quot;top&quot;:157.01557756958738,&quot;width&quot;:700.5359055118117}"/>
</p:tagLst>
</file>

<file path=ppt/tags/tag5.xml><?xml version="1.0" encoding="utf-8"?>
<p:tagLst xmlns:p="http://schemas.openxmlformats.org/presentationml/2006/main">
  <p:tag name="KSO_WM_DIAGRAM_VIRTUALLY_FRAME" val="{&quot;height&quot;:449.98410746978277,&quot;left&quot;:137.96409448818895,&quot;top&quot;:157.01557756958738,&quot;width&quot;:700.5359055118117}"/>
</p:tagLst>
</file>

<file path=ppt/tags/tag6.xml><?xml version="1.0" encoding="utf-8"?>
<p:tagLst xmlns:p="http://schemas.openxmlformats.org/presentationml/2006/main">
  <p:tag name="KSO_WM_DIAGRAM_VIRTUALLY_FRAME" val="{&quot;height&quot;:449.98410746978277,&quot;left&quot;:137.96409448818895,&quot;top&quot;:157.01557756958738,&quot;width&quot;:700.5359055118117}"/>
</p:tagLst>
</file>

<file path=ppt/tags/tag7.xml><?xml version="1.0" encoding="utf-8"?>
<p:tagLst xmlns:p="http://schemas.openxmlformats.org/presentationml/2006/main">
  <p:tag name="KSO_WM_DIAGRAM_VIRTUALLY_FRAME" val="{&quot;height&quot;:449.98410746978277,&quot;left&quot;:137.96409448818895,&quot;top&quot;:157.01557756958738,&quot;width&quot;:700.5359055118117}"/>
</p:tagLst>
</file>

<file path=ppt/tags/tag8.xml><?xml version="1.0" encoding="utf-8"?>
<p:tagLst xmlns:p="http://schemas.openxmlformats.org/presentationml/2006/main">
  <p:tag name="KSO_WM_DIAGRAM_VIRTUALLY_FRAME" val="{&quot;height&quot;:449.98410746978277,&quot;left&quot;:137.96409448818895,&quot;top&quot;:157.01557756958738,&quot;width&quot;:700.5359055118117}"/>
</p:tagLst>
</file>

<file path=ppt/tags/tag9.xml><?xml version="1.0" encoding="utf-8"?>
<p:tagLst xmlns:p="http://schemas.openxmlformats.org/presentationml/2006/main">
  <p:tag name="KSO_WM_DIAGRAM_VIRTUALLY_FRAME" val="{&quot;height&quot;:449.98410746978277,&quot;left&quot;:137.96409448818895,&quot;top&quot;:157.01557756958738,&quot;width&quot;:700.5359055118117}"/>
</p:tagLst>
</file>

<file path=ppt/tags/tag10.xml><?xml version="1.0" encoding="utf-8"?>
<p:tagLst xmlns:p="http://schemas.openxmlformats.org/presentationml/2006/main">
  <p:tag name="KSO_WM_DIAGRAM_VIRTUALLY_FRAME" val="{&quot;height&quot;:449.98410746978277,&quot;left&quot;:137.96409448818895,&quot;top&quot;:157.01557756958738,&quot;width&quot;:700.5359055118117}"/>
</p:tagLst>
</file>

<file path=ppt/tags/tag11.xml><?xml version="1.0" encoding="utf-8"?>
<p:tagLst xmlns:p="http://schemas.openxmlformats.org/presentationml/2006/main">
  <p:tag name="KSO_WM_DIAGRAM_VIRTUALLY_FRAME" val="{&quot;height&quot;:449.98410746978277,&quot;left&quot;:137.96409448818895,&quot;top&quot;:157.01557756958738,&quot;width&quot;:700.5359055118117}"/>
</p:tagLst>
</file>

<file path=ppt/tags/tag12.xml><?xml version="1.0" encoding="utf-8"?>
<p:tagLst xmlns:p="http://schemas.openxmlformats.org/presentationml/2006/main">
  <p:tag name="KSO_WM_DIAGRAM_VIRTUALLY_FRAME" val="{&quot;height&quot;:449.98410746978277,&quot;left&quot;:137.96409448818895,&quot;top&quot;:157.01557756958738,&quot;width&quot;:700.5359055118117}"/>
</p:tagLst>
</file>

<file path=ppt/tags/tag13.xml><?xml version="1.0" encoding="utf-8"?>
<p:tagLst xmlns:p="http://schemas.openxmlformats.org/presentationml/2006/main">
  <p:tag name="KSO_WM_DIAGRAM_VIRTUALLY_FRAME" val="{&quot;height&quot;:421.33428822495597,&quot;left&quot;:459.7,&quot;top&quot;:112.35,&quot;width&quot;:506.00181102362205}"/>
</p:tagLst>
</file>

<file path=ppt/tags/tag14.xml><?xml version="1.0" encoding="utf-8"?>
<p:tagLst xmlns:p="http://schemas.openxmlformats.org/presentationml/2006/main">
  <p:tag name="KSO_WM_DIAGRAM_VIRTUALLY_FRAME" val="{&quot;height&quot;:421.33428822495597,&quot;left&quot;:459.7,&quot;top&quot;:112.35,&quot;width&quot;:506.00181102362205}"/>
</p:tagLst>
</file>

<file path=ppt/tags/tag15.xml><?xml version="1.0" encoding="utf-8"?>
<p:tagLst xmlns:p="http://schemas.openxmlformats.org/presentationml/2006/main">
  <p:tag name="KSO_WM_DIAGRAM_VIRTUALLY_FRAME" val="{&quot;height&quot;:421.33428822495597,&quot;left&quot;:459.7,&quot;top&quot;:112.35,&quot;width&quot;:506.00181102362205}"/>
</p:tagLst>
</file>

<file path=ppt/tags/tag16.xml><?xml version="1.0" encoding="utf-8"?>
<p:tagLst xmlns:p="http://schemas.openxmlformats.org/presentationml/2006/main">
  <p:tag name="KSO_WM_DIAGRAM_VIRTUALLY_FRAME" val="{&quot;height&quot;:174.23732283464565,&quot;left&quot;:91.17850393700787,&quot;top&quot;:276.71417322834645,&quot;width&quot;:779.451496062992}"/>
</p:tagLst>
</file>

<file path=ppt/tags/tag17.xml><?xml version="1.0" encoding="utf-8"?>
<p:tagLst xmlns:p="http://schemas.openxmlformats.org/presentationml/2006/main">
  <p:tag name="ISLIDE.DIAGRAM" val="#770046;"/>
</p:tagLst>
</file>

<file path=ppt/tags/tag18.xml><?xml version="1.0" encoding="utf-8"?>
<p:tagLst xmlns:p="http://schemas.openxmlformats.org/presentationml/2006/main">
  <p:tag name="ISLIDE.DIAGRAM" val="#770046;"/>
</p:tagLst>
</file>

<file path=ppt/tags/tag19.xml><?xml version="1.0" encoding="utf-8"?>
<p:tagLst xmlns:p="http://schemas.openxmlformats.org/presentationml/2006/main">
  <p:tag name="ISLIDE.DIAGRAM" val="#770046;"/>
</p:tagLst>
</file>

<file path=ppt/tags/tag20.xml><?xml version="1.0" encoding="utf-8"?>
<p:tagLst xmlns:p="http://schemas.openxmlformats.org/presentationml/2006/main">
  <p:tag name="TABLE_ENDDRAG_ORIGIN_RECT" val="712*131"/>
  <p:tag name="TABLE_ENDDRAG_RECT" val="94*337*712*131"/>
</p:tagLst>
</file>

<file path=ppt/theme/theme1.xml><?xml version="1.0" encoding="utf-8"?>
<a:theme xmlns:a="http://schemas.openxmlformats.org/drawingml/2006/main" name="1_Office 主题​​">
  <a:themeElements>
    <a:clrScheme name="自定义 11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3437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1">
              <a:lumMod val="50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2470</Words>
  <Application>WPS 演示</Application>
  <PresentationFormat>宽屏</PresentationFormat>
  <Paragraphs>143</Paragraphs>
  <Slides>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8" baseType="lpstr">
      <vt:lpstr>Arial</vt:lpstr>
      <vt:lpstr>宋体</vt:lpstr>
      <vt:lpstr>Wingdings</vt:lpstr>
      <vt:lpstr>华文行楷</vt:lpstr>
      <vt:lpstr>微软雅黑</vt:lpstr>
      <vt:lpstr>BMW Type Global Bold</vt:lpstr>
      <vt:lpstr>Arial</vt:lpstr>
      <vt:lpstr>Calibri</vt:lpstr>
      <vt:lpstr>Arial Unicode MS</vt:lpstr>
      <vt:lpstr>等线</vt:lpstr>
      <vt:lpstr>Times New Roman</vt:lpstr>
      <vt:lpstr>Calibri</vt:lpstr>
      <vt:lpstr>Malgun Gothic</vt:lpstr>
      <vt:lpstr>PMingLiU</vt:lpstr>
      <vt:lpstr>ESRI AMFM Electric</vt:lpstr>
      <vt:lpstr>BMW Type Global Bold</vt:lpstr>
      <vt:lpstr>Kata Bold</vt:lpstr>
      <vt:lpstr>PMingLiU-ExtB</vt:lpstr>
      <vt:lpstr>Wingdings</vt:lpstr>
      <vt:lpstr>1_Office 主题​​</vt:lpstr>
      <vt:lpstr>PowerPoint 演示文稿</vt:lpstr>
      <vt:lpstr>PowerPoint 演示文稿</vt:lpstr>
      <vt:lpstr>多图拼图版式</vt:lpstr>
      <vt:lpstr>三部分并列关系</vt:lpstr>
      <vt:lpstr>三部分并列关系</vt:lpstr>
      <vt:lpstr>Admin Features </vt:lpstr>
      <vt:lpstr>数据表格</vt:lpstr>
      <vt:lpstr>图文拼图版式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论文答辩报告</dc:title>
  <dc:creator>辉强 林</dc:creator>
  <cp:lastModifiedBy>微信用户</cp:lastModifiedBy>
  <cp:revision>679</cp:revision>
  <dcterms:created xsi:type="dcterms:W3CDTF">2023-04-21T05:46:00Z</dcterms:created>
  <dcterms:modified xsi:type="dcterms:W3CDTF">2025-12-05T07:08:23Z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B8FAB0A299024751AB0B4926F727B266_13</vt:lpwstr>
  </property>
  <property fmtid="{D5CDD505-2E9C-101B-9397-08002B2CF9AE}" pid="3" name="KSOProductBuildVer">
    <vt:lpwstr>2052-12.1.0.24034</vt:lpwstr>
  </property>
</Properties>
</file>